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MONIQUE FESTIVAL 2026 — Budget Artistes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Synthèse au 04/04/2026 — basé sur le Line Up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C3232"/>
                </a:solidFill>
              </a:defRPr>
            </a:pPr>
            <a:r>
              <a:t>RÈGLES DE CHIFFRAGE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00000"/>
                </a:solidFill>
              </a:rPr>
              <a:t>1. Cachet spectacle :</a:t>
            </a:r>
            <a:r>
              <a:rPr sz="1200">
                <a:solidFill>
                  <a:srgbClr val="323232"/>
                </a:solidFill>
              </a:rPr>
              <a:t> 250 € coût chargé / prestation (153 € brut min. x1,6)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00000"/>
                </a:solidFill>
              </a:rPr>
              <a:t>2. Répétition atelier :</a:t>
            </a:r>
            <a:r>
              <a:rPr sz="1200">
                <a:solidFill>
                  <a:srgbClr val="323232"/>
                </a:solidFill>
              </a:rPr>
              <a:t> 100 € coût chargé / service (62 € brut / 3h)
     Ateliers = répétitions en vue de la Création Monique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00000"/>
                </a:solidFill>
              </a:rPr>
              <a:t>3. Théâtre appel à projet :</a:t>
            </a:r>
            <a:r>
              <a:rPr sz="1200">
                <a:solidFill>
                  <a:srgbClr val="323232"/>
                </a:solidFill>
              </a:rPr>
              <a:t> 4 acteurs estimés / créneau
     Artistes locaux → pas de défraiement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00000"/>
                </a:solidFill>
              </a:rPr>
              <a:t>4. Famille :</a:t>
            </a:r>
            <a:r>
              <a:rPr sz="1200">
                <a:solidFill>
                  <a:srgbClr val="323232"/>
                </a:solidFill>
              </a:rPr>
              <a:t> 0 € (Léopold, Lorraine, Luther, Lewis)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00000"/>
                </a:solidFill>
              </a:rPr>
              <a:t>5. Défraiement :</a:t>
            </a:r>
            <a:r>
              <a:rPr sz="1200">
                <a:solidFill>
                  <a:srgbClr val="323232"/>
                </a:solidFill>
              </a:rPr>
              <a:t> 200 € max / artiste non-famille
     Prise en charge réelle estimée à 75% (-25%)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00000"/>
                </a:solidFill>
              </a:rPr>
              <a:t>6. Restauration :</a:t>
            </a:r>
            <a:r>
              <a:rPr sz="1200">
                <a:solidFill>
                  <a:srgbClr val="323232"/>
                </a:solidFill>
              </a:rPr>
              <a:t> prix coûtant (repas 3 €, boisson 1,50 €)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C3232"/>
                </a:solidFill>
              </a:defRPr>
            </a:pPr>
            <a:r>
              <a:t>EFFECTIFS</a:t>
            </a:r>
          </a:p>
          <a:p>
            <a:pPr>
              <a:spcAft>
                <a:spcPts val="200"/>
              </a:spcAft>
              <a:defRPr sz="1200"/>
            </a:pPr>
            <a:r>
              <a:t>• 55 artistes (dont 4 famille)</a:t>
            </a:r>
          </a:p>
          <a:p>
            <a:pPr>
              <a:spcAft>
                <a:spcPts val="200"/>
              </a:spcAft>
              <a:defRPr sz="1200"/>
            </a:pPr>
            <a:r>
              <a:t>• 58 cachets spectacle payés</a:t>
            </a:r>
          </a:p>
          <a:p>
            <a:pPr>
              <a:spcAft>
                <a:spcPts val="200"/>
              </a:spcAft>
              <a:defRPr sz="1200"/>
            </a:pPr>
            <a:r>
              <a:t>• 12 répétitions atelier payées</a:t>
            </a:r>
          </a:p>
          <a:p>
            <a:pPr>
              <a:spcAft>
                <a:spcPts val="200"/>
              </a:spcAft>
              <a:defRPr sz="1200"/>
            </a:pPr>
            <a:r>
              <a:t>• 32 artistes défrayés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371600"/>
          <a:ext cx="5760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463040"/>
              </a:tblGrid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Poste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Détail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Cachets spectacle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58 x 250 €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14 500 €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Répétitions atelier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 x 100 €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1 200 €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64"/>
                          </a:solidFill>
                        </a:defRPr>
                      </a:pPr>
                      <a:r>
                        <a:t>Sous-total prestations</a:t>
                      </a:r>
                    </a:p>
                  </a:txBody>
                  <a:tcPr>
                    <a:solidFill>
                      <a:srgbClr val="E6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64"/>
                          </a:solidFill>
                        </a:defRPr>
                      </a:pPr>
                    </a:p>
                  </a:txBody>
                  <a:tcPr>
                    <a:solidFill>
                      <a:srgbClr val="E6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00064"/>
                          </a:solidFill>
                        </a:defRPr>
                      </a:pPr>
                      <a:r>
                        <a:t>15 700 €</a:t>
                      </a:r>
                    </a:p>
                  </a:txBody>
                  <a:tcPr>
                    <a:solidFill>
                      <a:srgbClr val="E6E6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Défraiement (max 200 €)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 artistes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6 400 €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Ajustement -25%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prise en charge réelle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-1 600 €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64"/>
                          </a:solidFill>
                        </a:defRPr>
                      </a:pPr>
                      <a:r>
                        <a:t>Sous-total défraiement</a:t>
                      </a:r>
                    </a:p>
                  </a:txBody>
                  <a:tcPr>
                    <a:solidFill>
                      <a:srgbClr val="E6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64"/>
                          </a:solidFill>
                        </a:defRPr>
                      </a:pPr>
                    </a:p>
                  </a:txBody>
                  <a:tcPr>
                    <a:solidFill>
                      <a:srgbClr val="E6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00064"/>
                          </a:solidFill>
                        </a:defRPr>
                      </a:pPr>
                      <a:r>
                        <a:t>4 800 €</a:t>
                      </a:r>
                    </a:p>
                  </a:txBody>
                  <a:tcPr>
                    <a:solidFill>
                      <a:srgbClr val="E6E6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3232"/>
                          </a:solidFill>
                        </a:defRPr>
                      </a:pPr>
                      <a:r>
                        <a:t>TOTAL ARTISTES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3232"/>
                          </a:solidFill>
                        </a:defRPr>
                      </a:pP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DC3232"/>
                          </a:solidFill>
                        </a:defRPr>
                      </a:pPr>
                      <a:r>
                        <a:t>20 500 €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484632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005840"/>
                <a:gridCol w="82296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Jour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Nb cachets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Cachets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Nb rép.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Répétitions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Vendredi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4 000 €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4 000 €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5 000 €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600 €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5 600 €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Dimanche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5 500 €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600 €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6 100 €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14 500 €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1 200 €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15 700 €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